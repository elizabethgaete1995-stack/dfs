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30/05/2019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002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30/05/2019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523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30/05/2019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309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30/05/2019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653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30/05/2019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9775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30/05/2019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6004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30/05/2019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3880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30/05/2019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971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30/05/2019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941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30/05/2019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499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30/05/2019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926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D81B9-1BD9-42C5-B8FD-291CB396BFDB}" type="datetimeFigureOut">
              <a:rPr lang="es-ES" smtClean="0"/>
              <a:t>30/05/2019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0761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006" y="1645240"/>
            <a:ext cx="390145" cy="39014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2536331" y="1736031"/>
            <a:ext cx="736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WLD_RG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595916" y="3325998"/>
            <a:ext cx="13631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 smtClean="0">
                <a:solidFill>
                  <a:srgbClr val="0070C0"/>
                </a:solidFill>
              </a:rPr>
              <a:t>Azure</a:t>
            </a:r>
            <a:r>
              <a:rPr lang="es-ES" sz="1200" dirty="0" smtClean="0">
                <a:solidFill>
                  <a:srgbClr val="0070C0"/>
                </a:solidFill>
              </a:rPr>
              <a:t> Data Factory</a:t>
            </a:r>
            <a:endParaRPr lang="es-ES" sz="1200" dirty="0">
              <a:solidFill>
                <a:srgbClr val="0070C0"/>
              </a:solidFill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2094006" y="2035385"/>
            <a:ext cx="3709385" cy="239640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Picture 2" descr="A close up of a sign&#10;&#10;Description generated with high confidence">
            <a:extLst>
              <a:ext uri="{FF2B5EF4-FFF2-40B4-BE49-F238E27FC236}">
                <a16:creationId xmlns:a16="http://schemas.microsoft.com/office/drawing/2014/main" xmlns="" id="{FEBBBFF8-C71B-4847-ACF0-8238960A84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187" y="3384923"/>
            <a:ext cx="644533" cy="644533"/>
          </a:xfrm>
          <a:prstGeom prst="rect">
            <a:avLst/>
          </a:prstGeom>
        </p:spPr>
      </p:pic>
      <p:sp>
        <p:nvSpPr>
          <p:cNvPr id="11" name="CuadroTexto 7">
            <a:extLst>
              <a:ext uri="{FF2B5EF4-FFF2-40B4-BE49-F238E27FC236}">
                <a16:creationId xmlns:a16="http://schemas.microsoft.com/office/drawing/2014/main" xmlns="" id="{B184576C-A02F-43BB-9ED7-5F68DB4BD3EC}"/>
              </a:ext>
            </a:extLst>
          </p:cNvPr>
          <p:cNvSpPr txBox="1"/>
          <p:nvPr/>
        </p:nvSpPr>
        <p:spPr>
          <a:xfrm>
            <a:off x="4677124" y="4029456"/>
            <a:ext cx="7606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Key </a:t>
            </a:r>
            <a:r>
              <a:rPr lang="es-ES" sz="1200" dirty="0" err="1">
                <a:solidFill>
                  <a:srgbClr val="0070C0"/>
                </a:solidFill>
              </a:rPr>
              <a:t>Vault</a:t>
            </a:r>
            <a:endParaRPr lang="es-ES" sz="1200" dirty="0">
              <a:solidFill>
                <a:srgbClr val="0070C0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xmlns="" id="{6849D6D6-7242-401E-95E4-79F1534A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741157" y="2350210"/>
            <a:ext cx="751846" cy="743712"/>
          </a:xfrm>
          <a:prstGeom prst="rect">
            <a:avLst/>
          </a:prstGeom>
        </p:spPr>
      </p:pic>
      <p:sp>
        <p:nvSpPr>
          <p:cNvPr id="12" name="Rectángulo 9">
            <a:extLst>
              <a:ext uri="{FF2B5EF4-FFF2-40B4-BE49-F238E27FC236}">
                <a16:creationId xmlns:a16="http://schemas.microsoft.com/office/drawing/2014/main" xmlns="" id="{3B893609-D9E8-421B-A84A-97EA87E674A5}"/>
              </a:ext>
            </a:extLst>
          </p:cNvPr>
          <p:cNvSpPr/>
          <p:nvPr/>
        </p:nvSpPr>
        <p:spPr>
          <a:xfrm>
            <a:off x="6388609" y="2035385"/>
            <a:ext cx="1456943" cy="239640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" name="Imagen 4">
            <a:extLst>
              <a:ext uri="{FF2B5EF4-FFF2-40B4-BE49-F238E27FC236}">
                <a16:creationId xmlns:a16="http://schemas.microsoft.com/office/drawing/2014/main" xmlns="" id="{281DCC4E-3E68-4741-9B26-EB306C25CC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038" y="1645240"/>
            <a:ext cx="390145" cy="390145"/>
          </a:xfrm>
          <a:prstGeom prst="rect">
            <a:avLst/>
          </a:prstGeom>
        </p:spPr>
      </p:pic>
      <p:sp>
        <p:nvSpPr>
          <p:cNvPr id="14" name="CuadroTexto 6">
            <a:extLst>
              <a:ext uri="{FF2B5EF4-FFF2-40B4-BE49-F238E27FC236}">
                <a16:creationId xmlns:a16="http://schemas.microsoft.com/office/drawing/2014/main" xmlns="" id="{3F442F1D-DC65-4E0F-A78C-D633F26F41EF}"/>
              </a:ext>
            </a:extLst>
          </p:cNvPr>
          <p:cNvSpPr txBox="1"/>
          <p:nvPr/>
        </p:nvSpPr>
        <p:spPr>
          <a:xfrm>
            <a:off x="6602363" y="1736031"/>
            <a:ext cx="877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MGMT_RG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xmlns="" id="{7C7F9273-7164-4A39-AE30-B8D8CD6C80F7}"/>
              </a:ext>
            </a:extLst>
          </p:cNvPr>
          <p:cNvCxnSpPr>
            <a:stCxn id="8" idx="2"/>
            <a:endCxn id="3" idx="1"/>
          </p:cNvCxnSpPr>
          <p:nvPr/>
        </p:nvCxnSpPr>
        <p:spPr>
          <a:xfrm rot="16200000" flipH="1">
            <a:off x="3954254" y="2926256"/>
            <a:ext cx="104193" cy="1457674"/>
          </a:xfrm>
          <a:prstGeom prst="bentConnector2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xmlns="" id="{21C798F1-FD2D-41F9-B06A-BBA23B8305ED}"/>
              </a:ext>
            </a:extLst>
          </p:cNvPr>
          <p:cNvCxnSpPr>
            <a:endCxn id="6" idx="1"/>
          </p:cNvCxnSpPr>
          <p:nvPr/>
        </p:nvCxnSpPr>
        <p:spPr>
          <a:xfrm flipV="1">
            <a:off x="3669876" y="2722066"/>
            <a:ext cx="3071281" cy="316789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8818A178-5D73-4ABC-8645-57E5FEF89129}"/>
              </a:ext>
            </a:extLst>
          </p:cNvPr>
          <p:cNvSpPr/>
          <p:nvPr/>
        </p:nvSpPr>
        <p:spPr>
          <a:xfrm>
            <a:off x="2791453" y="3762308"/>
            <a:ext cx="27254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Scenarios: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Data sources credentials</a:t>
            </a:r>
            <a:endParaRPr lang="en-US" sz="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50442DB7-CF98-4227-B316-E67A28601FD2}"/>
              </a:ext>
            </a:extLst>
          </p:cNvPr>
          <p:cNvSpPr/>
          <p:nvPr/>
        </p:nvSpPr>
        <p:spPr>
          <a:xfrm>
            <a:off x="4015731" y="2817276"/>
            <a:ext cx="272542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Diagnostics (Log/Metrics)</a:t>
            </a: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030" y="2577171"/>
            <a:ext cx="741054" cy="74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15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5071624" y="1137122"/>
            <a:ext cx="1151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AZURE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6168147" y="3454010"/>
            <a:ext cx="1228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solidFill>
                  <a:srgbClr val="0070C0"/>
                </a:solidFill>
              </a:rPr>
              <a:t>Data Factory</a:t>
            </a:r>
            <a:endParaRPr lang="es-ES" sz="1200" dirty="0">
              <a:solidFill>
                <a:srgbClr val="0070C0"/>
              </a:solidFill>
            </a:endParaRPr>
          </a:p>
        </p:txBody>
      </p:sp>
      <p:sp>
        <p:nvSpPr>
          <p:cNvPr id="20" name="Rectángulo 19"/>
          <p:cNvSpPr/>
          <p:nvPr/>
        </p:nvSpPr>
        <p:spPr>
          <a:xfrm>
            <a:off x="4782500" y="1389893"/>
            <a:ext cx="5763580" cy="407821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1" name="CuadroTexto 130"/>
          <p:cNvSpPr txBox="1"/>
          <p:nvPr/>
        </p:nvSpPr>
        <p:spPr>
          <a:xfrm>
            <a:off x="197597" y="141937"/>
            <a:ext cx="3759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/>
              <a:t>Data Factory Public Diagram </a:t>
            </a:r>
            <a:endParaRPr lang="es-ES" sz="2000" dirty="0"/>
          </a:p>
        </p:txBody>
      </p:sp>
      <p:pic>
        <p:nvPicPr>
          <p:cNvPr id="29" name="Imagen 97">
            <a:extLst>
              <a:ext uri="{FF2B5EF4-FFF2-40B4-BE49-F238E27FC236}">
                <a16:creationId xmlns:a16="http://schemas.microsoft.com/office/drawing/2014/main" xmlns="" id="{B10C8FD7-1741-4B5C-B90E-A20137B40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499" y="1053438"/>
            <a:ext cx="353013" cy="353013"/>
          </a:xfrm>
          <a:prstGeom prst="rect">
            <a:avLst/>
          </a:prstGeom>
        </p:spPr>
      </p:pic>
      <p:sp>
        <p:nvSpPr>
          <p:cNvPr id="37" name="CuadroTexto 84">
            <a:extLst>
              <a:ext uri="{FF2B5EF4-FFF2-40B4-BE49-F238E27FC236}">
                <a16:creationId xmlns:a16="http://schemas.microsoft.com/office/drawing/2014/main" xmlns="" id="{9C603149-2DF0-4C3F-975F-691DD1B83D6D}"/>
              </a:ext>
            </a:extLst>
          </p:cNvPr>
          <p:cNvSpPr txBox="1"/>
          <p:nvPr/>
        </p:nvSpPr>
        <p:spPr>
          <a:xfrm>
            <a:off x="8107679" y="2233105"/>
            <a:ext cx="2169343" cy="52322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dirty="0" err="1">
                <a:solidFill>
                  <a:schemeClr val="bg2">
                    <a:lumMod val="50000"/>
                  </a:schemeClr>
                </a:solidFill>
              </a:rPr>
              <a:t>Azure</a:t>
            </a:r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sz="1400" dirty="0" err="1" smtClean="0">
                <a:solidFill>
                  <a:schemeClr val="bg2">
                    <a:lumMod val="50000"/>
                  </a:schemeClr>
                </a:solidFill>
              </a:rPr>
              <a:t>Resource</a:t>
            </a:r>
            <a:r>
              <a:rPr lang="es-ES" sz="14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s-ES" sz="1400" dirty="0" err="1" smtClean="0">
                <a:solidFill>
                  <a:schemeClr val="bg2">
                    <a:lumMod val="50000"/>
                  </a:schemeClr>
                </a:solidFill>
              </a:rPr>
              <a:t>Source</a:t>
            </a:r>
            <a:r>
              <a:rPr lang="es-ES" sz="1400" dirty="0" smtClean="0">
                <a:solidFill>
                  <a:schemeClr val="bg2">
                    <a:lumMod val="50000"/>
                  </a:schemeClr>
                </a:solidFill>
              </a:rPr>
              <a:t> / </a:t>
            </a:r>
            <a:r>
              <a:rPr lang="es-ES" sz="1400" dirty="0" err="1" smtClean="0">
                <a:solidFill>
                  <a:schemeClr val="bg2">
                    <a:lumMod val="50000"/>
                  </a:schemeClr>
                </a:solidFill>
              </a:rPr>
              <a:t>Destination</a:t>
            </a:r>
            <a:endParaRPr lang="es-E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0456D49E-12E6-4CD5-9EE8-E5BA3C33AF4A}"/>
              </a:ext>
            </a:extLst>
          </p:cNvPr>
          <p:cNvCxnSpPr>
            <a:cxnSpLocks/>
          </p:cNvCxnSpPr>
          <p:nvPr/>
        </p:nvCxnSpPr>
        <p:spPr>
          <a:xfrm flipH="1">
            <a:off x="3258936" y="3940777"/>
            <a:ext cx="3157471" cy="700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84">
            <a:extLst>
              <a:ext uri="{FF2B5EF4-FFF2-40B4-BE49-F238E27FC236}">
                <a16:creationId xmlns:a16="http://schemas.microsoft.com/office/drawing/2014/main" xmlns="" id="{8F5B3D95-CD63-42F4-A232-4EB71E0CAB21}"/>
              </a:ext>
            </a:extLst>
          </p:cNvPr>
          <p:cNvSpPr txBox="1"/>
          <p:nvPr/>
        </p:nvSpPr>
        <p:spPr>
          <a:xfrm>
            <a:off x="6031385" y="4712223"/>
            <a:ext cx="1313649" cy="3077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smtClean="0">
                <a:solidFill>
                  <a:schemeClr val="bg2">
                    <a:lumMod val="50000"/>
                  </a:schemeClr>
                </a:solidFill>
              </a:rPr>
              <a:t>ARM</a:t>
            </a:r>
            <a:endParaRPr lang="es-E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xmlns="" id="{1510CEC4-9B58-4DE5-8B45-77CDBCBB71AA}"/>
              </a:ext>
            </a:extLst>
          </p:cNvPr>
          <p:cNvCxnSpPr>
            <a:cxnSpLocks/>
            <a:stCxn id="53" idx="0"/>
          </p:cNvCxnSpPr>
          <p:nvPr/>
        </p:nvCxnSpPr>
        <p:spPr>
          <a:xfrm flipV="1">
            <a:off x="6688210" y="4206485"/>
            <a:ext cx="0" cy="505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19">
            <a:extLst>
              <a:ext uri="{FF2B5EF4-FFF2-40B4-BE49-F238E27FC236}">
                <a16:creationId xmlns:a16="http://schemas.microsoft.com/office/drawing/2014/main" xmlns="" id="{5243690B-7E9A-4249-8DA1-AA3159E823AF}"/>
              </a:ext>
            </a:extLst>
          </p:cNvPr>
          <p:cNvSpPr/>
          <p:nvPr/>
        </p:nvSpPr>
        <p:spPr>
          <a:xfrm>
            <a:off x="587134" y="3235982"/>
            <a:ext cx="1491038" cy="135008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6" name="CuadroTexto 13">
            <a:extLst>
              <a:ext uri="{FF2B5EF4-FFF2-40B4-BE49-F238E27FC236}">
                <a16:creationId xmlns:a16="http://schemas.microsoft.com/office/drawing/2014/main" xmlns="" id="{7DB601DD-7487-4816-8AA6-278C5AE33647}"/>
              </a:ext>
            </a:extLst>
          </p:cNvPr>
          <p:cNvSpPr txBox="1"/>
          <p:nvPr/>
        </p:nvSpPr>
        <p:spPr>
          <a:xfrm>
            <a:off x="2850042" y="3289055"/>
            <a:ext cx="834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solidFill>
                  <a:schemeClr val="bg2">
                    <a:lumMod val="50000"/>
                  </a:schemeClr>
                </a:solidFill>
              </a:rPr>
              <a:t>PUBLIC</a:t>
            </a:r>
          </a:p>
          <a:p>
            <a:r>
              <a:rPr lang="es-ES" sz="1200" dirty="0" smtClean="0">
                <a:solidFill>
                  <a:schemeClr val="bg2">
                    <a:lumMod val="50000"/>
                  </a:schemeClr>
                </a:solidFill>
              </a:rPr>
              <a:t>IP</a:t>
            </a:r>
            <a:endParaRPr lang="es-E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xmlns="" id="{316772FF-89FE-4DCA-95A5-7C9206DFA6C4}"/>
              </a:ext>
            </a:extLst>
          </p:cNvPr>
          <p:cNvCxnSpPr/>
          <p:nvPr/>
        </p:nvCxnSpPr>
        <p:spPr>
          <a:xfrm>
            <a:off x="2126640" y="3947786"/>
            <a:ext cx="322105" cy="0"/>
          </a:xfrm>
          <a:prstGeom prst="straightConnector1">
            <a:avLst/>
          </a:prstGeom>
          <a:ln>
            <a:solidFill>
              <a:srgbClr val="00B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1" name="Imagen 97">
            <a:extLst>
              <a:ext uri="{FF2B5EF4-FFF2-40B4-BE49-F238E27FC236}">
                <a16:creationId xmlns:a16="http://schemas.microsoft.com/office/drawing/2014/main" xmlns="" id="{181EDC76-53AF-4F16-9D08-4F7CAB657F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64" y="2859332"/>
            <a:ext cx="353013" cy="35301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4" name="Rectangle 113">
            <a:extLst>
              <a:ext uri="{FF2B5EF4-FFF2-40B4-BE49-F238E27FC236}">
                <a16:creationId xmlns:a16="http://schemas.microsoft.com/office/drawing/2014/main" xmlns="" id="{45927516-BC0F-49C7-A973-8570DE075682}"/>
              </a:ext>
            </a:extLst>
          </p:cNvPr>
          <p:cNvSpPr/>
          <p:nvPr/>
        </p:nvSpPr>
        <p:spPr>
          <a:xfrm>
            <a:off x="4804613" y="4115032"/>
            <a:ext cx="1168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00" dirty="0" smtClean="0"/>
              <a:t>https outbound</a:t>
            </a:r>
          </a:p>
          <a:p>
            <a:pPr algn="r"/>
            <a:r>
              <a:rPr lang="en-US" sz="1000" dirty="0" smtClean="0"/>
              <a:t>Data Channel</a:t>
            </a:r>
          </a:p>
          <a:p>
            <a:pPr algn="r"/>
            <a:r>
              <a:rPr lang="en-US" sz="1000" dirty="0" smtClean="0"/>
              <a:t>RBAC</a:t>
            </a:r>
            <a:endParaRPr lang="en-US" sz="1000" dirty="0"/>
          </a:p>
          <a:p>
            <a:pPr algn="r"/>
            <a:endParaRPr lang="en-US" sz="1000" dirty="0"/>
          </a:p>
          <a:p>
            <a:pPr algn="r"/>
            <a:endParaRPr lang="en-US" sz="80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xmlns="" id="{2000211C-E213-478B-AFA0-F7F697C11D88}"/>
              </a:ext>
            </a:extLst>
          </p:cNvPr>
          <p:cNvSpPr/>
          <p:nvPr/>
        </p:nvSpPr>
        <p:spPr>
          <a:xfrm>
            <a:off x="3474239" y="3253258"/>
            <a:ext cx="1541007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>
                <a:solidFill>
                  <a:srgbClr val="00B050"/>
                </a:solidFill>
              </a:rPr>
              <a:t>Command </a:t>
            </a:r>
            <a:r>
              <a:rPr lang="en-US" sz="1000" dirty="0" smtClean="0">
                <a:solidFill>
                  <a:srgbClr val="00B050"/>
                </a:solidFill>
              </a:rPr>
              <a:t>Channel</a:t>
            </a:r>
            <a:r>
              <a:rPr lang="en-US" sz="1000" dirty="0" smtClean="0">
                <a:solidFill>
                  <a:srgbClr val="00B050"/>
                </a:solidFill>
              </a:rPr>
              <a:t> outbound</a:t>
            </a:r>
          </a:p>
          <a:p>
            <a:r>
              <a:rPr lang="en-US" sz="1000" dirty="0" err="1">
                <a:solidFill>
                  <a:srgbClr val="00B050"/>
                </a:solidFill>
              </a:rPr>
              <a:t>Outbond</a:t>
            </a:r>
            <a:endParaRPr lang="en-US" sz="1000" dirty="0">
              <a:solidFill>
                <a:srgbClr val="00B050"/>
              </a:solidFill>
            </a:endParaRPr>
          </a:p>
          <a:p>
            <a:r>
              <a:rPr lang="en-US" sz="1000" dirty="0">
                <a:solidFill>
                  <a:srgbClr val="00B050"/>
                </a:solidFill>
              </a:rPr>
              <a:t>RBAC</a:t>
            </a:r>
            <a:endParaRPr lang="en-US" sz="800" dirty="0">
              <a:solidFill>
                <a:srgbClr val="00B050"/>
              </a:solidFill>
            </a:endParaRPr>
          </a:p>
          <a:p>
            <a:endParaRPr lang="en-US" sz="1000" dirty="0">
              <a:solidFill>
                <a:srgbClr val="00B050"/>
              </a:solidFill>
            </a:endParaRPr>
          </a:p>
        </p:txBody>
      </p:sp>
      <p:pic>
        <p:nvPicPr>
          <p:cNvPr id="50" name="Imagen 4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424" y="3655419"/>
            <a:ext cx="538673" cy="538673"/>
          </a:xfrm>
          <a:prstGeom prst="rect">
            <a:avLst/>
          </a:prstGeom>
        </p:spPr>
      </p:pic>
      <p:cxnSp>
        <p:nvCxnSpPr>
          <p:cNvPr id="59" name="Straight Arrow Connector 108">
            <a:extLst>
              <a:ext uri="{FF2B5EF4-FFF2-40B4-BE49-F238E27FC236}">
                <a16:creationId xmlns:a16="http://schemas.microsoft.com/office/drawing/2014/main" xmlns="" id="{316772FF-89FE-4DCA-95A5-7C9206DFA6C4}"/>
              </a:ext>
            </a:extLst>
          </p:cNvPr>
          <p:cNvCxnSpPr/>
          <p:nvPr/>
        </p:nvCxnSpPr>
        <p:spPr>
          <a:xfrm flipH="1">
            <a:off x="6715232" y="5050935"/>
            <a:ext cx="11227" cy="1094232"/>
          </a:xfrm>
          <a:prstGeom prst="straightConnector1">
            <a:avLst/>
          </a:prstGeom>
          <a:ln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uadroTexto 84">
            <a:extLst>
              <a:ext uri="{FF2B5EF4-FFF2-40B4-BE49-F238E27FC236}">
                <a16:creationId xmlns:a16="http://schemas.microsoft.com/office/drawing/2014/main" xmlns="" id="{9AF95CDD-AA64-4CF4-9C6D-C56D0A0F7C0F}"/>
              </a:ext>
            </a:extLst>
          </p:cNvPr>
          <p:cNvSpPr txBox="1"/>
          <p:nvPr/>
        </p:nvSpPr>
        <p:spPr>
          <a:xfrm>
            <a:off x="719621" y="5592936"/>
            <a:ext cx="1151509" cy="24622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1000" dirty="0" err="1" smtClean="0">
                <a:solidFill>
                  <a:schemeClr val="bg2">
                    <a:lumMod val="50000"/>
                  </a:schemeClr>
                </a:solidFill>
              </a:rPr>
              <a:t>DevOps</a:t>
            </a:r>
            <a:r>
              <a:rPr lang="es-ES" sz="1000" dirty="0" smtClean="0">
                <a:solidFill>
                  <a:schemeClr val="bg2">
                    <a:lumMod val="50000"/>
                  </a:schemeClr>
                </a:solidFill>
              </a:rPr>
              <a:t> / O365</a:t>
            </a:r>
            <a:endParaRPr lang="es-E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64" name="Group 85">
            <a:extLst>
              <a:ext uri="{FF2B5EF4-FFF2-40B4-BE49-F238E27FC236}">
                <a16:creationId xmlns:a16="http://schemas.microsoft.com/office/drawing/2014/main" xmlns="" id="{DC480418-0944-4436-9508-0C38E0E8D207}"/>
              </a:ext>
            </a:extLst>
          </p:cNvPr>
          <p:cNvGrpSpPr/>
          <p:nvPr/>
        </p:nvGrpSpPr>
        <p:grpSpPr>
          <a:xfrm>
            <a:off x="3343537" y="6030805"/>
            <a:ext cx="481150" cy="481150"/>
            <a:chOff x="2200299" y="4558362"/>
            <a:chExt cx="481150" cy="481150"/>
          </a:xfrm>
        </p:grpSpPr>
        <p:pic>
          <p:nvPicPr>
            <p:cNvPr id="66" name="Imagen 97">
              <a:extLst>
                <a:ext uri="{FF2B5EF4-FFF2-40B4-BE49-F238E27FC236}">
                  <a16:creationId xmlns:a16="http://schemas.microsoft.com/office/drawing/2014/main" xmlns="" id="{31FD91E6-7F75-444B-9714-342449311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299" y="4558362"/>
              <a:ext cx="481150" cy="481150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68" name="Picture 83">
              <a:extLst>
                <a:ext uri="{FF2B5EF4-FFF2-40B4-BE49-F238E27FC236}">
                  <a16:creationId xmlns:a16="http://schemas.microsoft.com/office/drawing/2014/main" xmlns="" id="{0FA45F33-A524-4092-9C37-282EC8A66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0826" y="4731278"/>
              <a:ext cx="320802" cy="168421"/>
            </a:xfrm>
            <a:prstGeom prst="rect">
              <a:avLst/>
            </a:prstGeom>
          </p:spPr>
        </p:pic>
      </p:grpSp>
      <p:sp>
        <p:nvSpPr>
          <p:cNvPr id="69" name="Oval 66">
            <a:extLst>
              <a:ext uri="{FF2B5EF4-FFF2-40B4-BE49-F238E27FC236}">
                <a16:creationId xmlns:a16="http://schemas.microsoft.com/office/drawing/2014/main" xmlns="" id="{7BF22451-0BBD-482A-8AD7-F607BB72E153}"/>
              </a:ext>
            </a:extLst>
          </p:cNvPr>
          <p:cNvSpPr/>
          <p:nvPr/>
        </p:nvSpPr>
        <p:spPr>
          <a:xfrm>
            <a:off x="6663247" y="6179808"/>
            <a:ext cx="129259" cy="1343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Connector: Elbow 73">
            <a:extLst>
              <a:ext uri="{FF2B5EF4-FFF2-40B4-BE49-F238E27FC236}">
                <a16:creationId xmlns:a16="http://schemas.microsoft.com/office/drawing/2014/main" xmlns="" id="{13823879-EFFB-48B4-A92D-D086D35B786A}"/>
              </a:ext>
            </a:extLst>
          </p:cNvPr>
          <p:cNvCxnSpPr>
            <a:stCxn id="120" idx="3"/>
            <a:endCxn id="66" idx="1"/>
          </p:cNvCxnSpPr>
          <p:nvPr/>
        </p:nvCxnSpPr>
        <p:spPr>
          <a:xfrm>
            <a:off x="2107663" y="6030805"/>
            <a:ext cx="1235874" cy="240575"/>
          </a:xfrm>
          <a:prstGeom prst="bentConnector3">
            <a:avLst>
              <a:gd name="adj1" fmla="val 50000"/>
            </a:avLst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3">
            <a:extLst>
              <a:ext uri="{FF2B5EF4-FFF2-40B4-BE49-F238E27FC236}">
                <a16:creationId xmlns:a16="http://schemas.microsoft.com/office/drawing/2014/main" xmlns="" id="{13823879-EFFB-48B4-A92D-D086D35B786A}"/>
              </a:ext>
            </a:extLst>
          </p:cNvPr>
          <p:cNvCxnSpPr/>
          <p:nvPr/>
        </p:nvCxnSpPr>
        <p:spPr>
          <a:xfrm flipV="1">
            <a:off x="3834257" y="6271380"/>
            <a:ext cx="2737020" cy="1"/>
          </a:xfrm>
          <a:prstGeom prst="bentConnector3">
            <a:avLst>
              <a:gd name="adj1" fmla="val 50000"/>
            </a:avLst>
          </a:prstGeom>
          <a:ln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uadroTexto 13">
            <a:extLst>
              <a:ext uri="{FF2B5EF4-FFF2-40B4-BE49-F238E27FC236}">
                <a16:creationId xmlns:a16="http://schemas.microsoft.com/office/drawing/2014/main" xmlns="" id="{7DB601DD-7487-4816-8AA6-278C5AE33647}"/>
              </a:ext>
            </a:extLst>
          </p:cNvPr>
          <p:cNvSpPr txBox="1"/>
          <p:nvPr/>
        </p:nvSpPr>
        <p:spPr>
          <a:xfrm>
            <a:off x="6906098" y="5916997"/>
            <a:ext cx="2064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solidFill>
                  <a:schemeClr val="bg2">
                    <a:lumMod val="50000"/>
                  </a:schemeClr>
                </a:solidFill>
              </a:rPr>
              <a:t>Management.azure.com</a:t>
            </a:r>
          </a:p>
          <a:p>
            <a:r>
              <a:rPr lang="es-ES" sz="1200" dirty="0" smtClean="0">
                <a:solidFill>
                  <a:schemeClr val="bg2">
                    <a:lumMod val="50000"/>
                  </a:schemeClr>
                </a:solidFill>
              </a:rPr>
              <a:t>https</a:t>
            </a:r>
          </a:p>
          <a:p>
            <a:r>
              <a:rPr lang="es-ES" sz="1200" dirty="0" smtClean="0">
                <a:solidFill>
                  <a:schemeClr val="bg2">
                    <a:lumMod val="50000"/>
                  </a:schemeClr>
                </a:solidFill>
              </a:rPr>
              <a:t>RBAC  </a:t>
            </a:r>
            <a:r>
              <a:rPr lang="es-ES" sz="1200" dirty="0" err="1" smtClean="0">
                <a:solidFill>
                  <a:schemeClr val="bg2">
                    <a:lumMod val="50000"/>
                  </a:schemeClr>
                </a:solidFill>
              </a:rPr>
              <a:t>Azure</a:t>
            </a:r>
            <a:endParaRPr lang="es-E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3" name="Oval 66">
            <a:extLst>
              <a:ext uri="{FF2B5EF4-FFF2-40B4-BE49-F238E27FC236}">
                <a16:creationId xmlns:a16="http://schemas.microsoft.com/office/drawing/2014/main" xmlns="" id="{7BF22451-0BBD-482A-8AD7-F607BB72E153}"/>
              </a:ext>
            </a:extLst>
          </p:cNvPr>
          <p:cNvSpPr/>
          <p:nvPr/>
        </p:nvSpPr>
        <p:spPr>
          <a:xfrm>
            <a:off x="7670112" y="2420883"/>
            <a:ext cx="113550" cy="1260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CuadroTexto 84">
            <a:extLst>
              <a:ext uri="{FF2B5EF4-FFF2-40B4-BE49-F238E27FC236}">
                <a16:creationId xmlns:a16="http://schemas.microsoft.com/office/drawing/2014/main" xmlns="" id="{9AF95CDD-AA64-4CF4-9C6D-C56D0A0F7C0F}"/>
              </a:ext>
            </a:extLst>
          </p:cNvPr>
          <p:cNvSpPr txBox="1"/>
          <p:nvPr/>
        </p:nvSpPr>
        <p:spPr>
          <a:xfrm>
            <a:off x="695305" y="3723854"/>
            <a:ext cx="1211228" cy="3077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1400" dirty="0" err="1" smtClean="0">
                <a:solidFill>
                  <a:schemeClr val="bg2">
                    <a:lumMod val="50000"/>
                  </a:schemeClr>
                </a:solidFill>
              </a:rPr>
              <a:t>Source</a:t>
            </a:r>
            <a:r>
              <a:rPr lang="es-ES" sz="1400" dirty="0" smtClean="0">
                <a:solidFill>
                  <a:schemeClr val="bg2">
                    <a:lumMod val="50000"/>
                  </a:schemeClr>
                </a:solidFill>
              </a:rPr>
              <a:t> / </a:t>
            </a:r>
            <a:r>
              <a:rPr lang="es-ES" sz="1400" dirty="0" err="1" smtClean="0">
                <a:solidFill>
                  <a:schemeClr val="bg2">
                    <a:lumMod val="50000"/>
                  </a:schemeClr>
                </a:solidFill>
              </a:rPr>
              <a:t>Dest</a:t>
            </a:r>
            <a:endParaRPr lang="es-E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2" name="Oval 66">
            <a:extLst>
              <a:ext uri="{FF2B5EF4-FFF2-40B4-BE49-F238E27FC236}">
                <a16:creationId xmlns:a16="http://schemas.microsoft.com/office/drawing/2014/main" xmlns="" id="{7BF22451-0BBD-482A-8AD7-F607BB72E153}"/>
              </a:ext>
            </a:extLst>
          </p:cNvPr>
          <p:cNvSpPr/>
          <p:nvPr/>
        </p:nvSpPr>
        <p:spPr>
          <a:xfrm>
            <a:off x="2465967" y="3852592"/>
            <a:ext cx="278994" cy="33236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Imagen 97">
            <a:extLst>
              <a:ext uri="{FF2B5EF4-FFF2-40B4-BE49-F238E27FC236}">
                <a16:creationId xmlns:a16="http://schemas.microsoft.com/office/drawing/2014/main" xmlns="" id="{181EDC76-53AF-4F16-9D08-4F7CAB657F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480" y="3655419"/>
            <a:ext cx="601655" cy="601655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95" name="Straight Arrow Connector 108">
            <a:extLst>
              <a:ext uri="{FF2B5EF4-FFF2-40B4-BE49-F238E27FC236}">
                <a16:creationId xmlns:a16="http://schemas.microsoft.com/office/drawing/2014/main" xmlns="" id="{316772FF-89FE-4DCA-95A5-7C9206DFA6C4}"/>
              </a:ext>
            </a:extLst>
          </p:cNvPr>
          <p:cNvCxnSpPr/>
          <p:nvPr/>
        </p:nvCxnSpPr>
        <p:spPr>
          <a:xfrm>
            <a:off x="7807746" y="2483915"/>
            <a:ext cx="322105" cy="0"/>
          </a:xfrm>
          <a:prstGeom prst="straightConnector1">
            <a:avLst/>
          </a:prstGeom>
          <a:ln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angular 84"/>
          <p:cNvCxnSpPr>
            <a:stCxn id="73" idx="2"/>
          </p:cNvCxnSpPr>
          <p:nvPr/>
        </p:nvCxnSpPr>
        <p:spPr>
          <a:xfrm rot="10800000" flipV="1">
            <a:off x="5403352" y="2483915"/>
            <a:ext cx="2266761" cy="1456862"/>
          </a:xfrm>
          <a:prstGeom prst="bentConnector3">
            <a:avLst>
              <a:gd name="adj1" fmla="val 100004"/>
            </a:avLst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20">
            <a:extLst>
              <a:ext uri="{FF2B5EF4-FFF2-40B4-BE49-F238E27FC236}">
                <a16:creationId xmlns:a16="http://schemas.microsoft.com/office/drawing/2014/main" xmlns="" id="{0456D49E-12E6-4CD5-9EE8-E5BA3C33AF4A}"/>
              </a:ext>
            </a:extLst>
          </p:cNvPr>
          <p:cNvCxnSpPr>
            <a:cxnSpLocks/>
          </p:cNvCxnSpPr>
          <p:nvPr/>
        </p:nvCxnSpPr>
        <p:spPr>
          <a:xfrm flipH="1">
            <a:off x="3444065" y="4082569"/>
            <a:ext cx="2972342" cy="46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08">
            <a:extLst>
              <a:ext uri="{FF2B5EF4-FFF2-40B4-BE49-F238E27FC236}">
                <a16:creationId xmlns:a16="http://schemas.microsoft.com/office/drawing/2014/main" xmlns="" id="{316772FF-89FE-4DCA-95A5-7C9206DFA6C4}"/>
              </a:ext>
            </a:extLst>
          </p:cNvPr>
          <p:cNvCxnSpPr/>
          <p:nvPr/>
        </p:nvCxnSpPr>
        <p:spPr>
          <a:xfrm>
            <a:off x="2126640" y="4018777"/>
            <a:ext cx="322105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ángulo 19">
            <a:extLst>
              <a:ext uri="{FF2B5EF4-FFF2-40B4-BE49-F238E27FC236}">
                <a16:creationId xmlns:a16="http://schemas.microsoft.com/office/drawing/2014/main" xmlns="" id="{5243690B-7E9A-4249-8DA1-AA3159E823AF}"/>
              </a:ext>
            </a:extLst>
          </p:cNvPr>
          <p:cNvSpPr/>
          <p:nvPr/>
        </p:nvSpPr>
        <p:spPr>
          <a:xfrm>
            <a:off x="616625" y="5355762"/>
            <a:ext cx="1491038" cy="135008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6" name="Imagen 1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52" y="5947306"/>
            <a:ext cx="365135" cy="365135"/>
          </a:xfrm>
          <a:prstGeom prst="rect">
            <a:avLst/>
          </a:prstGeom>
        </p:spPr>
      </p:pic>
      <p:pic>
        <p:nvPicPr>
          <p:cNvPr id="127" name="Imagen 12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36" y="6077411"/>
            <a:ext cx="425416" cy="425416"/>
          </a:xfrm>
          <a:prstGeom prst="rect">
            <a:avLst/>
          </a:prstGeom>
        </p:spPr>
      </p:pic>
      <p:sp>
        <p:nvSpPr>
          <p:cNvPr id="129" name="CuadroTexto 13">
            <a:extLst>
              <a:ext uri="{FF2B5EF4-FFF2-40B4-BE49-F238E27FC236}">
                <a16:creationId xmlns:a16="http://schemas.microsoft.com/office/drawing/2014/main" xmlns="" id="{7DB601DD-7487-4816-8AA6-278C5AE33647}"/>
              </a:ext>
            </a:extLst>
          </p:cNvPr>
          <p:cNvSpPr txBox="1"/>
          <p:nvPr/>
        </p:nvSpPr>
        <p:spPr>
          <a:xfrm>
            <a:off x="7421227" y="1955613"/>
            <a:ext cx="834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solidFill>
                  <a:schemeClr val="bg2">
                    <a:lumMod val="50000"/>
                  </a:schemeClr>
                </a:solidFill>
              </a:rPr>
              <a:t>PUBLIC</a:t>
            </a:r>
          </a:p>
          <a:p>
            <a:r>
              <a:rPr lang="es-ES" sz="1200" dirty="0" smtClean="0">
                <a:solidFill>
                  <a:schemeClr val="bg2">
                    <a:lumMod val="50000"/>
                  </a:schemeClr>
                </a:solidFill>
              </a:rPr>
              <a:t>IP</a:t>
            </a:r>
            <a:endParaRPr lang="es-ES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66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5150200" y="1586073"/>
            <a:ext cx="1151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AZURE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667306" y="4148827"/>
            <a:ext cx="634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smtClean="0">
                <a:solidFill>
                  <a:srgbClr val="0070C0"/>
                </a:solidFill>
              </a:rPr>
              <a:t>ADF</a:t>
            </a:r>
            <a:endParaRPr lang="es-ES" sz="1000" dirty="0">
              <a:solidFill>
                <a:srgbClr val="0070C0"/>
              </a:solidFill>
            </a:endParaRPr>
          </a:p>
        </p:txBody>
      </p:sp>
      <p:sp>
        <p:nvSpPr>
          <p:cNvPr id="20" name="Rectángulo 19"/>
          <p:cNvSpPr/>
          <p:nvPr/>
        </p:nvSpPr>
        <p:spPr>
          <a:xfrm>
            <a:off x="4782500" y="1966559"/>
            <a:ext cx="5763580" cy="35015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1" name="CuadroTexto 130"/>
          <p:cNvSpPr txBox="1"/>
          <p:nvPr/>
        </p:nvSpPr>
        <p:spPr>
          <a:xfrm>
            <a:off x="197597" y="141937"/>
            <a:ext cx="3874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Data Factory </a:t>
            </a:r>
            <a:r>
              <a:rPr lang="es-ES" sz="2400" dirty="0" err="1" smtClean="0"/>
              <a:t>Private</a:t>
            </a:r>
            <a:r>
              <a:rPr lang="es-ES" sz="2400" dirty="0" smtClean="0"/>
              <a:t> Diagram </a:t>
            </a:r>
          </a:p>
        </p:txBody>
      </p:sp>
      <p:pic>
        <p:nvPicPr>
          <p:cNvPr id="29" name="Imagen 97">
            <a:extLst>
              <a:ext uri="{FF2B5EF4-FFF2-40B4-BE49-F238E27FC236}">
                <a16:creationId xmlns:a16="http://schemas.microsoft.com/office/drawing/2014/main" xmlns="" id="{B10C8FD7-1741-4B5C-B90E-A20137B40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075" y="1502389"/>
            <a:ext cx="353013" cy="353013"/>
          </a:xfrm>
          <a:prstGeom prst="rect">
            <a:avLst/>
          </a:prstGeom>
        </p:spPr>
      </p:pic>
      <p:pic>
        <p:nvPicPr>
          <p:cNvPr id="30" name="Imagen 10">
            <a:extLst>
              <a:ext uri="{FF2B5EF4-FFF2-40B4-BE49-F238E27FC236}">
                <a16:creationId xmlns:a16="http://schemas.microsoft.com/office/drawing/2014/main" xmlns="" id="{765CA1B7-8A9A-4C56-AA2A-22BF6ABC22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843" y="2371764"/>
            <a:ext cx="279942" cy="279942"/>
          </a:xfrm>
          <a:prstGeom prst="rect">
            <a:avLst/>
          </a:prstGeom>
        </p:spPr>
      </p:pic>
      <p:sp>
        <p:nvSpPr>
          <p:cNvPr id="33" name="CuadroTexto 13">
            <a:extLst>
              <a:ext uri="{FF2B5EF4-FFF2-40B4-BE49-F238E27FC236}">
                <a16:creationId xmlns:a16="http://schemas.microsoft.com/office/drawing/2014/main" xmlns="" id="{282527FB-8746-4A87-AFFC-287DFD254F2B}"/>
              </a:ext>
            </a:extLst>
          </p:cNvPr>
          <p:cNvSpPr txBox="1"/>
          <p:nvPr/>
        </p:nvSpPr>
        <p:spPr>
          <a:xfrm>
            <a:off x="8129282" y="2361493"/>
            <a:ext cx="2257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WLD_VNET</a:t>
            </a:r>
          </a:p>
        </p:txBody>
      </p:sp>
      <p:sp>
        <p:nvSpPr>
          <p:cNvPr id="34" name="Rectángulo 23">
            <a:extLst>
              <a:ext uri="{FF2B5EF4-FFF2-40B4-BE49-F238E27FC236}">
                <a16:creationId xmlns:a16="http://schemas.microsoft.com/office/drawing/2014/main" xmlns="" id="{E4C12E7E-D4F0-4206-9CD2-7F5602FAEC68}"/>
              </a:ext>
            </a:extLst>
          </p:cNvPr>
          <p:cNvSpPr/>
          <p:nvPr/>
        </p:nvSpPr>
        <p:spPr>
          <a:xfrm>
            <a:off x="7875843" y="2652339"/>
            <a:ext cx="2590022" cy="120662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CuadroTexto 84">
            <a:extLst>
              <a:ext uri="{FF2B5EF4-FFF2-40B4-BE49-F238E27FC236}">
                <a16:creationId xmlns:a16="http://schemas.microsoft.com/office/drawing/2014/main" xmlns="" id="{CA94C0F4-2B6B-4264-9F07-D6D9FA77CAA5}"/>
              </a:ext>
            </a:extLst>
          </p:cNvPr>
          <p:cNvSpPr txBox="1"/>
          <p:nvPr/>
        </p:nvSpPr>
        <p:spPr>
          <a:xfrm>
            <a:off x="9053784" y="3231803"/>
            <a:ext cx="1289777" cy="3077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dirty="0" err="1" smtClean="0">
                <a:solidFill>
                  <a:schemeClr val="bg2">
                    <a:lumMod val="50000"/>
                  </a:schemeClr>
                </a:solidFill>
              </a:rPr>
              <a:t>Destination</a:t>
            </a:r>
            <a:endParaRPr lang="es-E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3" name="CuadroTexto 84">
            <a:extLst>
              <a:ext uri="{FF2B5EF4-FFF2-40B4-BE49-F238E27FC236}">
                <a16:creationId xmlns:a16="http://schemas.microsoft.com/office/drawing/2014/main" xmlns="" id="{8F5B3D95-CD63-42F4-A232-4EB71E0CAB21}"/>
              </a:ext>
            </a:extLst>
          </p:cNvPr>
          <p:cNvSpPr txBox="1"/>
          <p:nvPr/>
        </p:nvSpPr>
        <p:spPr>
          <a:xfrm>
            <a:off x="5452933" y="4890114"/>
            <a:ext cx="1313649" cy="3077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smtClean="0">
                <a:solidFill>
                  <a:schemeClr val="bg2">
                    <a:lumMod val="50000"/>
                  </a:schemeClr>
                </a:solidFill>
              </a:rPr>
              <a:t>ARM</a:t>
            </a:r>
            <a:endParaRPr lang="es-E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xmlns="" id="{1510CEC4-9B58-4DE5-8B45-77CDBCBB71AA}"/>
              </a:ext>
            </a:extLst>
          </p:cNvPr>
          <p:cNvCxnSpPr>
            <a:cxnSpLocks/>
          </p:cNvCxnSpPr>
          <p:nvPr/>
        </p:nvCxnSpPr>
        <p:spPr>
          <a:xfrm flipV="1">
            <a:off x="5871380" y="4375630"/>
            <a:ext cx="0" cy="505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19">
            <a:extLst>
              <a:ext uri="{FF2B5EF4-FFF2-40B4-BE49-F238E27FC236}">
                <a16:creationId xmlns:a16="http://schemas.microsoft.com/office/drawing/2014/main" xmlns="" id="{5243690B-7E9A-4249-8DA1-AA3159E823AF}"/>
              </a:ext>
            </a:extLst>
          </p:cNvPr>
          <p:cNvSpPr/>
          <p:nvPr/>
        </p:nvSpPr>
        <p:spPr>
          <a:xfrm>
            <a:off x="295802" y="1389898"/>
            <a:ext cx="2165056" cy="3046312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CuadroTexto 84">
            <a:extLst>
              <a:ext uri="{FF2B5EF4-FFF2-40B4-BE49-F238E27FC236}">
                <a16:creationId xmlns:a16="http://schemas.microsoft.com/office/drawing/2014/main" xmlns="" id="{9AF95CDD-AA64-4CF4-9C6D-C56D0A0F7C0F}"/>
              </a:ext>
            </a:extLst>
          </p:cNvPr>
          <p:cNvSpPr txBox="1"/>
          <p:nvPr/>
        </p:nvSpPr>
        <p:spPr>
          <a:xfrm>
            <a:off x="629784" y="5870234"/>
            <a:ext cx="1313649" cy="3077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DevOps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xmlns="" id="{DC480418-0944-4436-9508-0C38E0E8D207}"/>
              </a:ext>
            </a:extLst>
          </p:cNvPr>
          <p:cNvGrpSpPr/>
          <p:nvPr/>
        </p:nvGrpSpPr>
        <p:grpSpPr>
          <a:xfrm>
            <a:off x="2756870" y="5798903"/>
            <a:ext cx="481150" cy="481150"/>
            <a:chOff x="2200299" y="4558362"/>
            <a:chExt cx="481150" cy="481150"/>
          </a:xfrm>
        </p:grpSpPr>
        <p:pic>
          <p:nvPicPr>
            <p:cNvPr id="92" name="Imagen 97">
              <a:extLst>
                <a:ext uri="{FF2B5EF4-FFF2-40B4-BE49-F238E27FC236}">
                  <a16:creationId xmlns:a16="http://schemas.microsoft.com/office/drawing/2014/main" xmlns="" id="{31FD91E6-7F75-444B-9714-342449311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299" y="4558362"/>
              <a:ext cx="481150" cy="481150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xmlns="" id="{0FA45F33-A524-4092-9C37-282EC8A66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0826" y="4731278"/>
              <a:ext cx="320802" cy="168421"/>
            </a:xfrm>
            <a:prstGeom prst="rect">
              <a:avLst/>
            </a:prstGeom>
          </p:spPr>
        </p:pic>
      </p:grp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xmlns="" id="{0CBD575F-FD7A-49D0-983F-344B97140779}"/>
              </a:ext>
            </a:extLst>
          </p:cNvPr>
          <p:cNvCxnSpPr>
            <a:cxnSpLocks/>
          </p:cNvCxnSpPr>
          <p:nvPr/>
        </p:nvCxnSpPr>
        <p:spPr>
          <a:xfrm>
            <a:off x="1431036" y="2794630"/>
            <a:ext cx="4043124" cy="1110270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xmlns="" id="{2F9EB189-380E-456D-B098-79F52799D57D}"/>
              </a:ext>
            </a:extLst>
          </p:cNvPr>
          <p:cNvGrpSpPr/>
          <p:nvPr/>
        </p:nvGrpSpPr>
        <p:grpSpPr>
          <a:xfrm>
            <a:off x="2125240" y="2464440"/>
            <a:ext cx="671235" cy="660380"/>
            <a:chOff x="2200299" y="4558362"/>
            <a:chExt cx="481150" cy="481150"/>
          </a:xfrm>
        </p:grpSpPr>
        <p:pic>
          <p:nvPicPr>
            <p:cNvPr id="99" name="Imagen 97">
              <a:extLst>
                <a:ext uri="{FF2B5EF4-FFF2-40B4-BE49-F238E27FC236}">
                  <a16:creationId xmlns:a16="http://schemas.microsoft.com/office/drawing/2014/main" xmlns="" id="{922481A7-52D5-4FDD-BF57-51608EE27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299" y="4558362"/>
              <a:ext cx="481150" cy="481150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xmlns="" id="{CC2CE8DE-64B4-44F3-B7B7-3166F45BF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0826" y="4731278"/>
              <a:ext cx="320802" cy="168421"/>
            </a:xfrm>
            <a:prstGeom prst="rect">
              <a:avLst/>
            </a:prstGeom>
          </p:spPr>
        </p:pic>
      </p:grpSp>
      <p:sp>
        <p:nvSpPr>
          <p:cNvPr id="113" name="Rectangle 112">
            <a:extLst>
              <a:ext uri="{FF2B5EF4-FFF2-40B4-BE49-F238E27FC236}">
                <a16:creationId xmlns:a16="http://schemas.microsoft.com/office/drawing/2014/main" xmlns="" id="{BC7B19E3-EE0A-4BC6-B6DB-C68CDC1F10C7}"/>
              </a:ext>
            </a:extLst>
          </p:cNvPr>
          <p:cNvSpPr/>
          <p:nvPr/>
        </p:nvSpPr>
        <p:spPr>
          <a:xfrm>
            <a:off x="6445428" y="3850567"/>
            <a:ext cx="27254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>
                <a:solidFill>
                  <a:srgbClr val="00B050"/>
                </a:solidFill>
              </a:rPr>
              <a:t>Command Channel</a:t>
            </a:r>
            <a:endParaRPr lang="en-US" sz="1000" dirty="0">
              <a:solidFill>
                <a:srgbClr val="00B050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xmlns="" id="{45927516-BC0F-49C7-A973-8570DE075682}"/>
              </a:ext>
            </a:extLst>
          </p:cNvPr>
          <p:cNvSpPr/>
          <p:nvPr/>
        </p:nvSpPr>
        <p:spPr>
          <a:xfrm>
            <a:off x="6179528" y="2735581"/>
            <a:ext cx="108966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Data Channel</a:t>
            </a:r>
          </a:p>
          <a:p>
            <a:r>
              <a:rPr lang="en-US" sz="1000" dirty="0"/>
              <a:t>https (</a:t>
            </a:r>
            <a:r>
              <a:rPr lang="en-US" sz="1000" dirty="0" err="1"/>
              <a:t>Outbond</a:t>
            </a:r>
            <a:r>
              <a:rPr lang="en-US" sz="1000" dirty="0"/>
              <a:t>)</a:t>
            </a:r>
          </a:p>
          <a:p>
            <a:r>
              <a:rPr lang="en-US" sz="1000" dirty="0"/>
              <a:t>RBAC</a:t>
            </a:r>
            <a:endParaRPr lang="en-US" sz="100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xmlns="" id="{2000211C-E213-478B-AFA0-F7F697C11D88}"/>
              </a:ext>
            </a:extLst>
          </p:cNvPr>
          <p:cNvSpPr/>
          <p:nvPr/>
        </p:nvSpPr>
        <p:spPr>
          <a:xfrm>
            <a:off x="3231074" y="4095798"/>
            <a:ext cx="125653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Data Channel</a:t>
            </a:r>
          </a:p>
          <a:p>
            <a:r>
              <a:rPr lang="en-US" sz="1000" dirty="0" smtClean="0"/>
              <a:t>https (</a:t>
            </a:r>
            <a:r>
              <a:rPr lang="en-US" sz="1000" dirty="0" err="1" smtClean="0"/>
              <a:t>Outbond</a:t>
            </a:r>
            <a:r>
              <a:rPr lang="en-US" sz="1000" dirty="0" smtClean="0"/>
              <a:t>)</a:t>
            </a:r>
          </a:p>
          <a:p>
            <a:r>
              <a:rPr lang="en-US" sz="1000" dirty="0" smtClean="0"/>
              <a:t>RBAC</a:t>
            </a:r>
            <a:endParaRPr lang="en-US" sz="1000" dirty="0"/>
          </a:p>
        </p:txBody>
      </p:sp>
      <p:pic>
        <p:nvPicPr>
          <p:cNvPr id="117" name="Picture 116" descr="A close up of a logo&#10;&#10;Description generated with high confidence">
            <a:extLst>
              <a:ext uri="{FF2B5EF4-FFF2-40B4-BE49-F238E27FC236}">
                <a16:creationId xmlns:a16="http://schemas.microsoft.com/office/drawing/2014/main" xmlns="" id="{98FEAEA4-B67D-4676-B59D-70094B82DE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74" y="759435"/>
            <a:ext cx="622474" cy="622474"/>
          </a:xfrm>
          <a:prstGeom prst="rect">
            <a:avLst/>
          </a:prstGeom>
        </p:spPr>
      </p:pic>
      <p:pic>
        <p:nvPicPr>
          <p:cNvPr id="50" name="Imagen 4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301" y="3468759"/>
            <a:ext cx="659538" cy="65953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82" y="2614490"/>
            <a:ext cx="1006217" cy="781423"/>
          </a:xfrm>
          <a:prstGeom prst="rect">
            <a:avLst/>
          </a:prstGeom>
        </p:spPr>
      </p:pic>
      <p:pic>
        <p:nvPicPr>
          <p:cNvPr id="55" name="Imagen 5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943" y="3161805"/>
            <a:ext cx="733596" cy="569707"/>
          </a:xfrm>
          <a:prstGeom prst="rect">
            <a:avLst/>
          </a:prstGeom>
        </p:spPr>
      </p:pic>
      <p:sp>
        <p:nvSpPr>
          <p:cNvPr id="58" name="Oval 66">
            <a:extLst>
              <a:ext uri="{FF2B5EF4-FFF2-40B4-BE49-F238E27FC236}">
                <a16:creationId xmlns:a16="http://schemas.microsoft.com/office/drawing/2014/main" xmlns="" id="{7BF22451-0BBD-482A-8AD7-F607BB72E153}"/>
              </a:ext>
            </a:extLst>
          </p:cNvPr>
          <p:cNvSpPr/>
          <p:nvPr/>
        </p:nvSpPr>
        <p:spPr>
          <a:xfrm>
            <a:off x="6076580" y="5947906"/>
            <a:ext cx="129259" cy="1343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108">
            <a:extLst>
              <a:ext uri="{FF2B5EF4-FFF2-40B4-BE49-F238E27FC236}">
                <a16:creationId xmlns:a16="http://schemas.microsoft.com/office/drawing/2014/main" xmlns="" id="{316772FF-89FE-4DCA-95A5-7C9206DFA6C4}"/>
              </a:ext>
            </a:extLst>
          </p:cNvPr>
          <p:cNvCxnSpPr/>
          <p:nvPr/>
        </p:nvCxnSpPr>
        <p:spPr>
          <a:xfrm>
            <a:off x="6125832" y="5206637"/>
            <a:ext cx="5881" cy="716782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73">
            <a:extLst>
              <a:ext uri="{FF2B5EF4-FFF2-40B4-BE49-F238E27FC236}">
                <a16:creationId xmlns:a16="http://schemas.microsoft.com/office/drawing/2014/main" xmlns="" id="{13823879-EFFB-48B4-A92D-D086D35B786A}"/>
              </a:ext>
            </a:extLst>
          </p:cNvPr>
          <p:cNvCxnSpPr/>
          <p:nvPr/>
        </p:nvCxnSpPr>
        <p:spPr>
          <a:xfrm>
            <a:off x="1957856" y="6053158"/>
            <a:ext cx="714413" cy="2413"/>
          </a:xfrm>
          <a:prstGeom prst="bent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73">
            <a:extLst>
              <a:ext uri="{FF2B5EF4-FFF2-40B4-BE49-F238E27FC236}">
                <a16:creationId xmlns:a16="http://schemas.microsoft.com/office/drawing/2014/main" xmlns="" id="{13823879-EFFB-48B4-A92D-D086D35B786A}"/>
              </a:ext>
            </a:extLst>
          </p:cNvPr>
          <p:cNvCxnSpPr/>
          <p:nvPr/>
        </p:nvCxnSpPr>
        <p:spPr>
          <a:xfrm flipV="1">
            <a:off x="3247590" y="6039478"/>
            <a:ext cx="2737020" cy="1"/>
          </a:xfrm>
          <a:prstGeom prst="bent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uadroTexto 13">
            <a:extLst>
              <a:ext uri="{FF2B5EF4-FFF2-40B4-BE49-F238E27FC236}">
                <a16:creationId xmlns:a16="http://schemas.microsoft.com/office/drawing/2014/main" xmlns="" id="{7DB601DD-7487-4816-8AA6-278C5AE33647}"/>
              </a:ext>
            </a:extLst>
          </p:cNvPr>
          <p:cNvSpPr txBox="1"/>
          <p:nvPr/>
        </p:nvSpPr>
        <p:spPr>
          <a:xfrm>
            <a:off x="6205839" y="5745984"/>
            <a:ext cx="2064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solidFill>
                  <a:schemeClr val="bg2">
                    <a:lumMod val="50000"/>
                  </a:schemeClr>
                </a:solidFill>
              </a:rPr>
              <a:t>Management.azure.com</a:t>
            </a:r>
          </a:p>
          <a:p>
            <a:r>
              <a:rPr lang="es-ES" sz="1200" dirty="0" smtClean="0">
                <a:solidFill>
                  <a:schemeClr val="bg2">
                    <a:lumMod val="50000"/>
                  </a:schemeClr>
                </a:solidFill>
              </a:rPr>
              <a:t>https</a:t>
            </a:r>
          </a:p>
          <a:p>
            <a:r>
              <a:rPr lang="es-ES" sz="1200" dirty="0" smtClean="0">
                <a:solidFill>
                  <a:schemeClr val="bg2">
                    <a:lumMod val="50000"/>
                  </a:schemeClr>
                </a:solidFill>
              </a:rPr>
              <a:t>RBAC  </a:t>
            </a:r>
            <a:r>
              <a:rPr lang="es-ES" sz="1200" dirty="0" err="1" smtClean="0">
                <a:solidFill>
                  <a:schemeClr val="bg2">
                    <a:lumMod val="50000"/>
                  </a:schemeClr>
                </a:solidFill>
              </a:rPr>
              <a:t>Azure</a:t>
            </a:r>
            <a:endParaRPr lang="es-E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3" name="Imagen 30">
            <a:extLst>
              <a:ext uri="{FF2B5EF4-FFF2-40B4-BE49-F238E27FC236}">
                <a16:creationId xmlns:a16="http://schemas.microsoft.com/office/drawing/2014/main" xmlns="" id="{569D1864-0298-4BBA-93C6-E9510D41E60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701" y="2688694"/>
            <a:ext cx="211872" cy="211872"/>
          </a:xfrm>
          <a:prstGeom prst="rect">
            <a:avLst/>
          </a:prstGeom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180" y="2677927"/>
            <a:ext cx="362975" cy="362975"/>
          </a:xfrm>
          <a:prstGeom prst="rect">
            <a:avLst/>
          </a:prstGeom>
        </p:spPr>
      </p:pic>
      <p:sp>
        <p:nvSpPr>
          <p:cNvPr id="83" name="Rectangle 112">
            <a:extLst>
              <a:ext uri="{FF2B5EF4-FFF2-40B4-BE49-F238E27FC236}">
                <a16:creationId xmlns:a16="http://schemas.microsoft.com/office/drawing/2014/main" xmlns="" id="{BC7B19E3-EE0A-4BC6-B6DB-C68CDC1F10C7}"/>
              </a:ext>
            </a:extLst>
          </p:cNvPr>
          <p:cNvSpPr/>
          <p:nvPr/>
        </p:nvSpPr>
        <p:spPr>
          <a:xfrm>
            <a:off x="3837992" y="3161805"/>
            <a:ext cx="10680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B050"/>
                </a:solidFill>
              </a:rPr>
              <a:t>Command Channel https</a:t>
            </a:r>
            <a:r>
              <a:rPr lang="en-US" sz="1000" dirty="0"/>
              <a:t> </a:t>
            </a:r>
            <a:r>
              <a:rPr lang="en-US" sz="1000" dirty="0" err="1">
                <a:solidFill>
                  <a:srgbClr val="00B050"/>
                </a:solidFill>
              </a:rPr>
              <a:t>Outbond</a:t>
            </a:r>
            <a:endParaRPr lang="en-US" sz="1000" dirty="0">
              <a:solidFill>
                <a:srgbClr val="00B050"/>
              </a:solidFill>
            </a:endParaRPr>
          </a:p>
          <a:p>
            <a:r>
              <a:rPr lang="en-US" sz="1000" dirty="0">
                <a:solidFill>
                  <a:srgbClr val="00B050"/>
                </a:solidFill>
              </a:rPr>
              <a:t>RBAC</a:t>
            </a:r>
            <a:endParaRPr lang="en-US" sz="800" dirty="0">
              <a:solidFill>
                <a:srgbClr val="00B050"/>
              </a:solidFill>
            </a:endParaRPr>
          </a:p>
        </p:txBody>
      </p:sp>
      <p:sp>
        <p:nvSpPr>
          <p:cNvPr id="108" name="CuadroTexto 84">
            <a:extLst>
              <a:ext uri="{FF2B5EF4-FFF2-40B4-BE49-F238E27FC236}">
                <a16:creationId xmlns:a16="http://schemas.microsoft.com/office/drawing/2014/main" xmlns="" id="{8F5B3D95-CD63-42F4-A232-4EB71E0CAB21}"/>
              </a:ext>
            </a:extLst>
          </p:cNvPr>
          <p:cNvSpPr txBox="1"/>
          <p:nvPr/>
        </p:nvSpPr>
        <p:spPr>
          <a:xfrm>
            <a:off x="499074" y="1547625"/>
            <a:ext cx="852785" cy="3077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 smtClean="0">
                <a:solidFill>
                  <a:schemeClr val="bg2">
                    <a:lumMod val="50000"/>
                  </a:schemeClr>
                </a:solidFill>
              </a:rPr>
              <a:t>Source</a:t>
            </a:r>
            <a:endParaRPr lang="es-E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10" name="Connector: Elbow 93">
            <a:extLst>
              <a:ext uri="{FF2B5EF4-FFF2-40B4-BE49-F238E27FC236}">
                <a16:creationId xmlns:a16="http://schemas.microsoft.com/office/drawing/2014/main" xmlns="" id="{0CBD575F-FD7A-49D0-983F-344B97140779}"/>
              </a:ext>
            </a:extLst>
          </p:cNvPr>
          <p:cNvCxnSpPr>
            <a:cxnSpLocks/>
          </p:cNvCxnSpPr>
          <p:nvPr/>
        </p:nvCxnSpPr>
        <p:spPr>
          <a:xfrm>
            <a:off x="1181896" y="2908555"/>
            <a:ext cx="4230576" cy="11453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angular 90"/>
          <p:cNvCxnSpPr/>
          <p:nvPr/>
        </p:nvCxnSpPr>
        <p:spPr>
          <a:xfrm flipV="1">
            <a:off x="6282039" y="3385692"/>
            <a:ext cx="1589789" cy="412836"/>
          </a:xfrm>
          <a:prstGeom prst="bentConnector3">
            <a:avLst/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angular 101"/>
          <p:cNvCxnSpPr>
            <a:stCxn id="50" idx="0"/>
            <a:endCxn id="34" idx="1"/>
          </p:cNvCxnSpPr>
          <p:nvPr/>
        </p:nvCxnSpPr>
        <p:spPr>
          <a:xfrm rot="5400000" flipH="1" flipV="1">
            <a:off x="6769402" y="2362319"/>
            <a:ext cx="213109" cy="1999773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ctor recto de flecha 128"/>
          <p:cNvCxnSpPr>
            <a:stCxn id="55" idx="3"/>
          </p:cNvCxnSpPr>
          <p:nvPr/>
        </p:nvCxnSpPr>
        <p:spPr>
          <a:xfrm flipV="1">
            <a:off x="8722539" y="3446658"/>
            <a:ext cx="22677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cto de flecha 131"/>
          <p:cNvCxnSpPr>
            <a:stCxn id="3" idx="0"/>
            <a:endCxn id="108" idx="2"/>
          </p:cNvCxnSpPr>
          <p:nvPr/>
        </p:nvCxnSpPr>
        <p:spPr>
          <a:xfrm flipV="1">
            <a:off x="918591" y="1855402"/>
            <a:ext cx="6876" cy="7590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604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89</Words>
  <Application>Microsoft Office PowerPoint</Application>
  <PresentationFormat>Panorámica</PresentationFormat>
  <Paragraphs>48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RESTREPO ALONSO PAULA</dc:creator>
  <cp:lastModifiedBy>SAEZ FERNANDEZ,ISRAEL</cp:lastModifiedBy>
  <cp:revision>97</cp:revision>
  <dcterms:created xsi:type="dcterms:W3CDTF">2019-05-09T05:39:56Z</dcterms:created>
  <dcterms:modified xsi:type="dcterms:W3CDTF">2019-05-30T17:23:25Z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oardevol@microsoft.com</vt:lpwstr>
  </property>
  <property fmtid="{D5CDD505-2E9C-101B-9397-08002B2CF9AE}" pid="5" name="MSIP_Label_f42aa342-8706-4288-bd11-ebb85995028c_SetDate">
    <vt:lpwstr>2019-05-24T10:53:05.1501835Z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7e36b083-1d9e-4341-9eb8-ff9c3fc6c18b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